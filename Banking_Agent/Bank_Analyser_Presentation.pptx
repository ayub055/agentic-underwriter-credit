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Transaction_Tagger_Presentation.pptx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4206240" cy="54864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0"/>
            <a:ext cx="4206240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914400"/>
            <a:ext cx="4023360" cy="365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0" b="1" i="0">
                <a:solidFill>
                  <a:srgbClr val="224A85"/>
                </a:solidFill>
                <a:latin typeface="Calibri"/>
              </a:rPr>
              <a:t>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01168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88A8D8"/>
                </a:solidFill>
                <a:latin typeface="Calibri"/>
              </a:rPr>
              <a:t>CONFIDENTIAL  ·  UNDERWRITER-GRADE BANKING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097280"/>
            <a:ext cx="7132320" cy="2560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 i="0">
                <a:solidFill>
                  <a:srgbClr val="1B3A6B"/>
                </a:solidFill>
                <a:latin typeface="Calibri"/>
              </a:rPr>
              <a:t>Bank Analyser</a:t>
            </a:r>
          </a:p>
          <a:p>
            <a:pPr algn="l"/>
            <a:r>
              <a:rPr sz="4000" b="1" i="0">
                <a:solidFill>
                  <a:srgbClr val="1B3A6B"/>
                </a:solidFill>
                <a:latin typeface="Calibri"/>
              </a:rPr>
              <a:t>Underwriter-Grade Banking</a:t>
            </a:r>
          </a:p>
          <a:p>
            <a:pPr algn="l"/>
            <a:r>
              <a:rPr sz="4000" b="1" i="0">
                <a:solidFill>
                  <a:srgbClr val="1B3A6B"/>
                </a:solidFill>
                <a:latin typeface="Calibri"/>
              </a:rPr>
              <a:t>Intelligence — In-House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3703320"/>
            <a:ext cx="2743200" cy="381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840480"/>
            <a:ext cx="7132320" cy="10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6578"/>
                </a:solidFill>
                <a:latin typeface="Calibri"/>
              </a:rPr>
              <a:t>Built for underwriters to call offers and credit decisions from banking signals.</a:t>
            </a:r>
          </a:p>
          <a:p>
            <a:pPr algn="l"/>
            <a:r>
              <a:rPr sz="1200" b="0" i="0">
                <a:solidFill>
                  <a:srgbClr val="556578"/>
                </a:solidFill>
                <a:latin typeface="Calibri"/>
              </a:rPr>
              <a:t>Commercial-grade outputs at-par with external providers (Setu) — </a:t>
            </a:r>
          </a:p>
          <a:p>
            <a:pPr algn="l"/>
            <a:r>
              <a:rPr sz="1200" b="0" i="0">
                <a:solidFill>
                  <a:srgbClr val="556578"/>
                </a:solidFill>
                <a:latin typeface="Calibri"/>
              </a:rPr>
              <a:t>fully in-house · full control over rules, thresholds, and accuracy · zero per-call vendor cost.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4937760"/>
            <a:ext cx="1645920" cy="749808"/>
          </a:xfrm>
          <a:prstGeom prst="rect">
            <a:avLst/>
          </a:prstGeom>
          <a:solidFill>
            <a:srgbClr val="E8EDF7"/>
          </a:solidFill>
          <a:ln w="6350">
            <a:solidFill>
              <a:srgbClr val="CC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4937760"/>
            <a:ext cx="1645920" cy="4572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4992624"/>
            <a:ext cx="146304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Calibri"/>
              </a:rPr>
              <a:t>In-house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5379760"/>
            <a:ext cx="146304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56578"/>
                </a:solidFill>
                <a:latin typeface="Calibri"/>
              </a:rPr>
              <a:t>At-par with Setu · zero vendor cost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82512" y="4937760"/>
            <a:ext cx="1645920" cy="749808"/>
          </a:xfrm>
          <a:prstGeom prst="rect">
            <a:avLst/>
          </a:prstGeom>
          <a:solidFill>
            <a:srgbClr val="E8EDF7"/>
          </a:solidFill>
          <a:ln w="6350">
            <a:solidFill>
              <a:srgbClr val="CC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82512" y="4937760"/>
            <a:ext cx="1645920" cy="4572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4992624"/>
            <a:ext cx="146304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Calibri"/>
              </a:rPr>
              <a:t>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5379760"/>
            <a:ext cx="146304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56578"/>
                </a:solidFill>
                <a:latin typeface="Calibri"/>
              </a:rPr>
              <a:t>Underwriting intents wired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3024" y="4937760"/>
            <a:ext cx="1645920" cy="749808"/>
          </a:xfrm>
          <a:prstGeom prst="rect">
            <a:avLst/>
          </a:prstGeom>
          <a:solidFill>
            <a:srgbClr val="E8EDF7"/>
          </a:solidFill>
          <a:ln w="6350">
            <a:solidFill>
              <a:srgbClr val="CC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93024" y="4937760"/>
            <a:ext cx="1645920" cy="4572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4992624"/>
            <a:ext cx="146304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Calibri"/>
              </a:rPr>
              <a:t>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5379760"/>
            <a:ext cx="146304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56578"/>
                </a:solidFill>
                <a:latin typeface="Calibri"/>
              </a:rPr>
              <a:t>Spend categories · 13 event 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03536" y="4937760"/>
            <a:ext cx="1645920" cy="749808"/>
          </a:xfrm>
          <a:prstGeom prst="rect">
            <a:avLst/>
          </a:prstGeom>
          <a:solidFill>
            <a:srgbClr val="E8EDF7"/>
          </a:solidFill>
          <a:ln w="6350">
            <a:solidFill>
              <a:srgbClr val="CC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03536" y="4937760"/>
            <a:ext cx="1645920" cy="4572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94976" y="4992624"/>
            <a:ext cx="146304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Calibri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94976" y="5379760"/>
            <a:ext cx="146304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56578"/>
                </a:solidFill>
                <a:latin typeface="Calibri"/>
              </a:rPr>
              <a:t>Local LLM · zero PII egress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99A8BB"/>
                </a:solidFill>
                <a:latin typeface="Calibri"/>
              </a:rPr>
              <a:t>Built by the AI Team  ·  LangChain · Ollama · Deterministic-first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6578"/>
                </a:solidFill>
                <a:latin typeface="Calibri"/>
              </a:rPr>
              <a:t>02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libri"/>
              </a:rPr>
              <a:t>From Manual Pulls (or Setu Bills) — to an Underwriter-Grade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524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6578"/>
                </a:solidFill>
                <a:latin typeface="Calibri"/>
              </a:rPr>
              <a:t>Why this project exists, what an underwriter spends their day on, and what we have shipped against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56578"/>
                </a:solidFill>
                <a:latin typeface="Calibri"/>
              </a:rPr>
              <a:t>In-house  ·  Setu-parity output  ·  zero per-call vendor cost  ·  full control over rules and 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280000"/>
            <a:ext cx="6859323" cy="230000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280000"/>
            <a:ext cx="6859323" cy="60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40" y="1410000"/>
            <a:ext cx="6499323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What underwriters face 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040" y="1890000"/>
            <a:ext cx="6499323" cy="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•  Manual rgs.csv pulls per customer  ·  hand aggregation of salary, EMI, rent, bills.</a:t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•  Or external providers (Setu) — per-call cost, opaque rules, no control over accuracy.</a:t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•  Either path: slow turnaround, analyst-to-analyst variance, hard to audit a decision.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700000"/>
            <a:ext cx="6859323" cy="230000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700000"/>
            <a:ext cx="6859323" cy="60000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40" y="3830000"/>
            <a:ext cx="6499323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What Bank Analyser ships — in-house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040" y="4310000"/>
            <a:ext cx="6499323" cy="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•  Commercial-grade customer report (HTML + PDF) at-par with Setu output schema.</a:t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•  Agentic Q&amp;A across 24 underwriting intents — natural-language CLI for analysts.</a:t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•  20-column Excel workbook · batch via merge_excel_reports for cohort review.</a:t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•  Deterministic numbers · zero per-call vendor cost · zero PII egress.</a:t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•  JSONL audit trail — every parse · plan · tool call traceable for credit review.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9363" y="1280000"/>
            <a:ext cx="4549549" cy="472000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9363" y="1280000"/>
            <a:ext cx="4549549" cy="60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9363" y="1410000"/>
            <a:ext cx="4189549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Three pillars the underwriter reads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9363" y="1890000"/>
            <a:ext cx="4189549" cy="40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•  Cashflow &amp; Income</a:t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    salary, savings, balance trend, income stability.</a:t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•  Obligations &amp; Events</a:t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    EMI, rent, bills, anomalies, 13 keyword event rules.</a:t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•  Risk Scorecard</a:t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    LOW / CAUTION / HIGH + RAG signals,</a:t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    driven by 38 constants in thresholds.py.</a:t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Together: enough signal to call an offer.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6578"/>
                </a:solidFill>
                <a:latin typeface="Calibri"/>
              </a:rPr>
              <a:t>03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524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6578"/>
                </a:solidFill>
                <a:latin typeface="Calibri"/>
              </a:rPr>
              <a:t>Five-stage agentic pipeline, deterministic tool layer, and multi-format outputs — all running on local Ollama.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56578"/>
                </a:solidFill>
                <a:latin typeface="Calibri"/>
              </a:rPr>
              <a:t>mistral (intent · JSON)  ·  llama3.2 (narration)  ·  pandas + fpdf2 + Jinja2  ·  ~25 tool functions registered today</a:t>
            </a:r>
          </a:p>
        </p:txBody>
      </p:sp>
      <p:pic>
        <p:nvPicPr>
          <p:cNvPr id="11" name="Picture 10" descr="arch_gene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0000"/>
            <a:ext cx="11548000" cy="518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6578"/>
                </a:solidFill>
                <a:latin typeface="Calibri"/>
              </a:rPr>
              <a:t>04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libri"/>
              </a:rPr>
              <a:t>Determinism &gt;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524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6578"/>
                </a:solidFill>
                <a:latin typeface="Calibri"/>
              </a:rPr>
              <a:t>Every number on every report is computed in pure Python. The LLM never sees raw rows and never decides risk.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56578"/>
                </a:solidFill>
                <a:latin typeface="Calibri"/>
              </a:rPr>
              <a:t>Why: regulatory auditability  ·  reproducibility  ·  no hallucinated numbers  ·  config/thresholds.py is the single source of truth</a:t>
            </a:r>
          </a:p>
        </p:txBody>
      </p:sp>
      <p:pic>
        <p:nvPicPr>
          <p:cNvPr id="11" name="Picture 10" descr="arch_determi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0000"/>
            <a:ext cx="9100000" cy="41914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9560000" y="1230000"/>
            <a:ext cx="2308912" cy="518000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560000" y="1230000"/>
            <a:ext cx="2308912" cy="60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20000" y="1360000"/>
            <a:ext cx="198891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860B"/>
                </a:solidFill>
                <a:latin typeface="Calibri"/>
              </a:rPr>
              <a:t>MOTIVATION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1730000"/>
            <a:ext cx="1988912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•  Auditable line-by-line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0000" y="2150000"/>
            <a:ext cx="1988912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•  Same input → same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2570000"/>
            <a:ext cx="1988912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•  LLM never sees raw rows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0000" y="2990000"/>
            <a:ext cx="1988912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•  Narration fails soft — numbers always render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0" y="3410000"/>
            <a:ext cx="1988912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•  Findings = threshold + comparator (38 constants)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6578"/>
                </a:solidFill>
                <a:latin typeface="Calibri"/>
              </a:rPr>
              <a:t>05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libri"/>
              </a:rPr>
              <a:t>Customer Report — 12 Deterministic Sections + Event Detector + Scorecard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524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6578"/>
                </a:solidFill>
                <a:latin typeface="Calibri"/>
              </a:rPr>
              <a:t>customer_report_builder builds the report blocks; event_detector and scorecard run pure-Python over the same dataframe.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56578"/>
                </a:solidFill>
                <a:latin typeface="Calibri"/>
              </a:rPr>
              <a:t>Two themes: bank (FPDF)  ·  bank_v2 (Chart.js HTML)  ·  Zero LLM in numbers  ·  scorecard driven by 38 thresholds</a:t>
            </a:r>
          </a:p>
        </p:txBody>
      </p:sp>
      <p:pic>
        <p:nvPicPr>
          <p:cNvPr id="11" name="Picture 10" descr="arch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0000"/>
            <a:ext cx="11548000" cy="518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6578"/>
                </a:solidFill>
                <a:latin typeface="Calibri"/>
              </a:rPr>
              <a:t>06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libri"/>
              </a:rPr>
              <a:t>Upstream Dependency — Transaction Tagger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524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6578"/>
                </a:solidFill>
                <a:latin typeface="Calibri"/>
              </a:rPr>
              <a:t>Banking narrations are first classified into 43 categories by a separate retrieval-augmented model. Bank Analyser consumes its category_of_txn output and resolves it through config/categories.yaml.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56578"/>
                </a:solidFill>
                <a:latin typeface="Calibri"/>
              </a:rPr>
              <a:t>Click the panel to open the dedicated Transaction Tagger presentation  ·  Adapted from Amazon Science research</a:t>
            </a:r>
          </a:p>
        </p:txBody>
      </p:sp>
      <p:sp>
        <p:nvSpPr>
          <p:cNvPr id="11" name="Rectangle 10">
            <a:hlinkClick r:id="rId2"/>
          </p:cNvPr>
          <p:cNvSpPr/>
          <p:nvPr/>
        </p:nvSpPr>
        <p:spPr>
          <a:xfrm>
            <a:off x="1500000" y="1500000"/>
            <a:ext cx="9200000" cy="4400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00000" y="1500000"/>
            <a:ext cx="9200000" cy="60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00000" y="1500000"/>
            <a:ext cx="60000" cy="4400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00000" y="1900000"/>
            <a:ext cx="84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860B"/>
                </a:solidFill>
                <a:latin typeface="Calibri"/>
              </a:rPr>
              <a:t>TRANSACTION TAGGER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0000" y="2400000"/>
            <a:ext cx="84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Intelligence-Led Transaction 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0000" y="3500000"/>
            <a:ext cx="84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8A8D8"/>
                </a:solidFill>
                <a:latin typeface="Calibri"/>
              </a:rPr>
              <a:t>Retrieval-augmented categorisation of banking narrations.</a:t>
            </a:r>
          </a:p>
          <a:p>
            <a:pPr algn="l"/>
            <a:r>
              <a:rPr sz="1400" b="0" i="0">
                <a:solidFill>
                  <a:srgbClr val="88A8D8"/>
                </a:solidFill>
                <a:latin typeface="Calibri"/>
              </a:rPr>
              <a:t>Powers the category_of_txn column that every downstream feature</a:t>
            </a:r>
          </a:p>
          <a:p>
            <a:pPr algn="l"/>
            <a:r>
              <a:rPr sz="1400" b="0" i="0">
                <a:solidFill>
                  <a:srgbClr val="88A8D8"/>
                </a:solidFill>
                <a:latin typeface="Calibri"/>
              </a:rPr>
              <a:t>in Bank Analyser depends on — resolved into 46 canonical buckets</a:t>
            </a:r>
          </a:p>
          <a:p>
            <a:pPr algn="l"/>
            <a:r>
              <a:rPr sz="1400" b="0" i="0">
                <a:solidFill>
                  <a:srgbClr val="88A8D8"/>
                </a:solidFill>
                <a:latin typeface="Calibri"/>
              </a:rPr>
              <a:t>via category_registry.py and config/categories.yaml.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0000" y="4700000"/>
            <a:ext cx="2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B8860B"/>
                </a:solidFill>
                <a:latin typeface="Calibri"/>
              </a:rPr>
              <a:t>43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0000" y="51200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8A8D8"/>
                </a:solidFill>
                <a:latin typeface="Calibri"/>
              </a:rPr>
              <a:t>Categories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0000" y="4700000"/>
            <a:ext cx="2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B8860B"/>
                </a:solidFill>
                <a:latin typeface="Calibri"/>
              </a:rPr>
              <a:t>35K+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0000" y="51200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8A8D8"/>
                </a:solidFill>
                <a:latin typeface="Calibri"/>
              </a:rPr>
              <a:t>Labeled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0000" y="4700000"/>
            <a:ext cx="2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B8860B"/>
                </a:solidFill>
                <a:latin typeface="Calibri"/>
              </a:rPr>
              <a:t>10M+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0000" y="51200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8A8D8"/>
                </a:solidFill>
                <a:latin typeface="Calibri"/>
              </a:rPr>
              <a:t>Txns / 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00000" y="4700000"/>
            <a:ext cx="2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B8860B"/>
                </a:solidFill>
                <a:latin typeface="Calibri"/>
              </a:rPr>
              <a:t>&lt;15ms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00000" y="51200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8A8D8"/>
                </a:solidFill>
                <a:latin typeface="Calibri"/>
              </a:rPr>
              <a:t>Per transaction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0000" y="6050000"/>
            <a:ext cx="9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3A6B"/>
                </a:solidFill>
                <a:latin typeface="Calibri"/>
              </a:rPr>
              <a:t>▶  Click the panel above to open the full Transaction Tagger deck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6578"/>
                </a:solidFill>
                <a:latin typeface="Calibri"/>
              </a:rPr>
              <a:t>07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libri"/>
              </a:rPr>
              <a:t>Why This Pipeline Needs an Agent — Query Orchestration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524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6578"/>
                </a:solidFill>
                <a:latin typeface="Calibri"/>
              </a:rPr>
              <a:t>24 intents × ≤5 tools per query × per-customer insight cache × streaming narration. The combinatorics is what makes an agent worth building.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56578"/>
                </a:solidFill>
                <a:latin typeface="Calibri"/>
              </a:rPr>
              <a:t>Today: deterministic routing through INTENT_TOOL_MAP  ·  Tomorrow: full ReAct loop (see next slide)</a:t>
            </a:r>
          </a:p>
        </p:txBody>
      </p:sp>
      <p:pic>
        <p:nvPicPr>
          <p:cNvPr id="11" name="Picture 10" descr="arch_orche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0000"/>
            <a:ext cx="9100000" cy="41914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9600040" y="1230000"/>
            <a:ext cx="2268872" cy="518000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0040" y="1230000"/>
            <a:ext cx="2268872" cy="60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60040" y="1360000"/>
            <a:ext cx="194887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860B"/>
                </a:solidFill>
                <a:latin typeface="Calibri"/>
              </a:rPr>
              <a:t>WHY AGENTIC?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60040" y="1730000"/>
            <a:ext cx="1948872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•  Pick the right tools per intent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60040" y="2150000"/>
            <a:ext cx="1948872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•  Skip irrelevant sections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60040" y="2570000"/>
            <a:ext cx="1948872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•  Reuse cached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60040" y="2990000"/>
            <a:ext cx="1948872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•  Fail-soft on LLM errors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0040" y="3410000"/>
            <a:ext cx="1948872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•  Stream narration to the analyst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40040" y="4710000"/>
            <a:ext cx="1988872" cy="152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60040" y="4790000"/>
            <a:ext cx="1948872" cy="1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More intents.</a:t>
            </a:r>
          </a:p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More data sources.</a:t>
            </a:r>
          </a:p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More signals per case.</a:t>
            </a:r>
          </a:p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/>
            </a:r>
          </a:p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The agent scales linearly — a hand-written switch does not.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6578"/>
                </a:solidFill>
                <a:latin typeface="Calibri"/>
              </a:rPr>
              <a:t>08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libri"/>
              </a:rPr>
              <a:t>Agentic Foundation — Toward a ReAct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524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6578"/>
                </a:solidFill>
                <a:latin typeface="Calibri"/>
              </a:rPr>
              <a:t>Today's pipeline is the deterministic skeleton of a ReAct agent. The remaining step is to replace the static INTENT_TOOL_MAP with model-driven tool selection.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56578"/>
                </a:solidFill>
                <a:latin typeface="Calibri"/>
              </a:rPr>
              <a:t>Already built: parser · planner · tool registry · audit log · cached insights  ·  Gap: dynamic tool selection + observation-driven re-plan</a:t>
            </a:r>
          </a:p>
        </p:txBody>
      </p:sp>
      <p:pic>
        <p:nvPicPr>
          <p:cNvPr id="11" name="Picture 10" descr="arch_agen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0000"/>
            <a:ext cx="11548000" cy="518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6578"/>
                </a:solidFill>
                <a:latin typeface="Calibri"/>
              </a:rPr>
              <a:t>09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libri"/>
              </a:rPr>
              <a:t>Sample Output — Customer Report (HTML / PDF)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524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6578"/>
                </a:solidFill>
                <a:latin typeface="Calibri"/>
              </a:rPr>
              <a:t>Real customer view: salary, EMI, bills, rent, savings, risk indicators, anomalies, events, categories, scorecard, persona.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56578"/>
                </a:solidFill>
                <a:latin typeface="Calibri"/>
              </a:rPr>
              <a:t>Sample CRN: 698167220  ·  Yellow highlights to be added per analyst walkthrough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1300000"/>
            <a:ext cx="10800000" cy="4900000"/>
          </a:xfrm>
          <a:prstGeom prst="rect">
            <a:avLst/>
          </a:prstGeom>
          <a:solidFill>
            <a:srgbClr val="FFFFFF"/>
          </a:solidFill>
          <a:ln>
            <a:solidFill>
              <a:srgbClr val="CC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000" y="1300000"/>
            <a:ext cx="10800000" cy="60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3400000"/>
            <a:ext cx="108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99A8BB"/>
                </a:solidFill>
                <a:latin typeface="Calibri"/>
              </a:rPr>
              <a:t>[ Insert annotated bank_v2 HTML screenshot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4000000"/>
            <a:ext cx="108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56578"/>
                </a:solidFill>
                <a:latin typeface="Calibri"/>
              </a:rPr>
              <a:t>Yellow highlights mark the analyst's review 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000" y="4400000"/>
            <a:ext cx="108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9A8BB"/>
                </a:solidFill>
                <a:latin typeface="Calibri"/>
              </a:rPr>
              <a:t>reports/customer_698167220_report_v2.pdf  ·  reports/bank_v2/customer_698167220.html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6578"/>
                </a:solidFill>
                <a:latin typeface="Calibri"/>
              </a:rPr>
              <a:t>10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libri"/>
              </a:rPr>
              <a:t>Sample Output — Excel Workbook · Scorecard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524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6578"/>
                </a:solidFill>
                <a:latin typeface="Calibri"/>
              </a:rPr>
              <a:t>Structured outputs for downstream policy review, batch QC, and audit trail.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56578"/>
                </a:solidFill>
                <a:latin typeface="Calibri"/>
              </a:rPr>
              <a:t>20-column Excel row per CRN  ·  merge_excel_reports for batches  ·  Scorecard is pure deterministic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00000"/>
            <a:ext cx="5600000" cy="4900000"/>
          </a:xfrm>
          <a:prstGeom prst="rect">
            <a:avLst/>
          </a:prstGeom>
          <a:solidFill>
            <a:srgbClr val="FFFFFF"/>
          </a:solidFill>
          <a:ln>
            <a:solidFill>
              <a:srgbClr val="CC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300000"/>
            <a:ext cx="5600000" cy="60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400000"/>
            <a:ext cx="56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99A8BB"/>
                </a:solidFill>
                <a:latin typeface="Calibri"/>
              </a:rPr>
              <a:t>Excel Workbook — 20 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950000"/>
            <a:ext cx="56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56578"/>
                </a:solidFill>
                <a:latin typeface="Calibri"/>
              </a:rPr>
              <a:t>[ screenshot to be inserted 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0000" y="1300000"/>
            <a:ext cx="5600000" cy="4900000"/>
          </a:xfrm>
          <a:prstGeom prst="rect">
            <a:avLst/>
          </a:prstGeom>
          <a:solidFill>
            <a:srgbClr val="FFFFFF"/>
          </a:solidFill>
          <a:ln>
            <a:solidFill>
              <a:srgbClr val="CC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0000" y="1300000"/>
            <a:ext cx="5600000" cy="60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0000" y="3400000"/>
            <a:ext cx="56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99A8BB"/>
                </a:solidFill>
                <a:latin typeface="Calibri"/>
              </a:rPr>
              <a:t>Scorecard view — verdict + RAG chips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0000" y="3950000"/>
            <a:ext cx="56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56578"/>
                </a:solidFill>
                <a:latin typeface="Calibri"/>
              </a:rPr>
              <a:t>[ screenshot to be inserted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6578"/>
                </a:solidFill>
                <a:latin typeface="Calibri"/>
              </a:rPr>
              <a:t>11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libri"/>
              </a:rPr>
              <a:t>Impact — Directional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524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6578"/>
                </a:solidFill>
                <a:latin typeface="Calibri"/>
              </a:rPr>
              <a:t>We do not yet have hard TAT numbers; the qualitative shift is the headline.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56578"/>
                </a:solidFill>
                <a:latin typeface="Calibri"/>
              </a:rPr>
              <a:t>Pilot phase: shipping HTML + Excel to analysts for shadow-mode comparison against manual reviews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280000"/>
            <a:ext cx="11540000" cy="110000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280000"/>
            <a:ext cx="60000" cy="1100000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40" y="1420000"/>
            <a:ext cx="100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75BAD"/>
                </a:solidFill>
                <a:latin typeface="Calibri"/>
              </a:rPr>
              <a:t>THROUGHPUT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040" y="1680000"/>
            <a:ext cx="10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  <a:latin typeface="Calibri"/>
              </a:rPr>
              <a:t>Case TAT compression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040" y="2040000"/>
            <a:ext cx="11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Manual data pull + per-section aggregation collapses to a single agent invocation. Analyst time shifts from gathering to judging.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500000"/>
            <a:ext cx="11540000" cy="110000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500000"/>
            <a:ext cx="60000" cy="1100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40" y="2640000"/>
            <a:ext cx="100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B3A6B"/>
                </a:solidFill>
                <a:latin typeface="Calibri"/>
              </a:rPr>
              <a:t>CONSISTENCY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040" y="2900000"/>
            <a:ext cx="10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  <a:latin typeface="Calibri"/>
              </a:rPr>
              <a:t>Same finding every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040" y="3260000"/>
            <a:ext cx="11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38 thresholds in config/thresholds.py eliminate analyst-to-analyst variance on the same cohort.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720000"/>
            <a:ext cx="11540000" cy="110000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720000"/>
            <a:ext cx="60000" cy="1100000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40" y="3860000"/>
            <a:ext cx="100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75BAD"/>
                </a:solidFill>
                <a:latin typeface="Calibri"/>
              </a:rPr>
              <a:t>AUDITABILITY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0040" y="4120000"/>
            <a:ext cx="10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  <a:latin typeface="Calibri"/>
              </a:rPr>
              <a:t>Every number traceable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0040" y="4480000"/>
            <a:ext cx="11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Each key signal maps to a named constant + a single comparison operator. AuditLogger persists every parse · plan · tool call.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40000"/>
            <a:ext cx="11540000" cy="110000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40000"/>
            <a:ext cx="60000" cy="1100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0040" y="5080000"/>
            <a:ext cx="100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860B"/>
                </a:solidFill>
                <a:latin typeface="Calibri"/>
              </a:rPr>
              <a:t>COST &amp;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0040" y="5340000"/>
            <a:ext cx="10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  <a:latin typeface="Calibri"/>
              </a:rPr>
              <a:t>In-house, Setu-parity, vendor-free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040" y="5700000"/>
            <a:ext cx="11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Replaces per-call external bureau/bank APIs (e.g. Setu) with an in-house pipeline — full control over rules, thresholds, and accuracy. Zero per-call cost. Zero vendor lock-in.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6578"/>
                </a:solidFill>
                <a:latin typeface="Calibri"/>
              </a:rPr>
              <a:t>12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libri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524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6578"/>
                </a:solidFill>
                <a:latin typeface="Calibri"/>
              </a:rPr>
              <a:t>From shipped HTML / PDF / Excel reports to a fully agentic banking-intelligence system.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56578"/>
                </a:solidFill>
                <a:latin typeface="Calibri"/>
              </a:rPr>
              <a:t>Each phase builds on the prior one — no rewrite, only extension of the existing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280000"/>
            <a:ext cx="11540000" cy="110000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280000"/>
            <a:ext cx="60000" cy="1100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0040" y="1590000"/>
            <a:ext cx="290000" cy="290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040" y="1570000"/>
            <a:ext cx="29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0040" y="1430000"/>
            <a:ext cx="10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Phase 1 — NOW  ·  In-house, Setu-parity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0040" y="1800000"/>
            <a:ext cx="100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Commercial-grade customer report (HTML + PDF) at-par with Setu output. 24 underwriting intents. 20-column Excel for cohort review. Deterministic engine + static INTENT_TOOL_MAP.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500000"/>
            <a:ext cx="11540000" cy="110000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500000"/>
            <a:ext cx="60000" cy="1100000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0040" y="2810000"/>
            <a:ext cx="290000" cy="290000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040" y="2790000"/>
            <a:ext cx="29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0040" y="2650000"/>
            <a:ext cx="10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Phase 2 — ReAct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0040" y="3020000"/>
            <a:ext cx="100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Replace INTENT_TOOL_MAP with LLM-driven tool selection and observation-based re-planning. Reflection on cache hits.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720000"/>
            <a:ext cx="11540000" cy="110000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720000"/>
            <a:ext cx="60000" cy="1100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0040" y="4030000"/>
            <a:ext cx="290000" cy="290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040" y="4010000"/>
            <a:ext cx="29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0040" y="3870000"/>
            <a:ext cx="10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Phase 3 — Bureau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0040" y="4240000"/>
            <a:ext cx="100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Wire dpd_data.csv + tl_features.csv into the existing bureau schema and combined renderer when bureau data is delivered.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940000"/>
            <a:ext cx="11540000" cy="110000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940000"/>
            <a:ext cx="60000" cy="1100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0040" y="5250000"/>
            <a:ext cx="290000" cy="290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0040" y="5230000"/>
            <a:ext cx="29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0040" y="5090000"/>
            <a:ext cx="10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Phase 4 — Active Learning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0040" y="5460000"/>
            <a:ext cx="100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Analyst overrides feed back into threshold tuning, category mapping, and event-keyword refinement.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6578"/>
                </a:solidFill>
                <a:latin typeface="Calibri"/>
              </a:rPr>
              <a:t>13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libri"/>
              </a:rPr>
              <a:t>Risks, Guardrails &amp; 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524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6578"/>
                </a:solidFill>
                <a:latin typeface="Calibri"/>
              </a:rPr>
              <a:t>What can break, what protects us, and what we need next.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56578"/>
                </a:solidFill>
                <a:latin typeface="Calibri"/>
              </a:rPr>
              <a:t>Confidential  ·  Internal review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280000"/>
            <a:ext cx="5600000" cy="470000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280000"/>
            <a:ext cx="5600000" cy="60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40" y="1430000"/>
            <a:ext cx="524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  <a:latin typeface="Calibri"/>
              </a:rPr>
              <a:t>Guardrails in place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040" y="1950000"/>
            <a:ext cx="5240000" cy="3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•  In-house — no PII to Setu or any third party. Zero per-call cost.</a:t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•  Local Ollama inference  ·  LLM_TEMPERATURE = 0.0  ·  LLM_SEED = 42.</a:t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•  Deterministic numbers — LLM never sees raw transactions.</a:t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•  Single source of truth: config/thresholds.py · categories.yaml · intents.py.</a:t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•  Fail-soft everywhere: tool/LLM failure never crashes the report.</a:t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•  AuditLogger writes JSONL trace per day — every parse · plan · tool call.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0000" y="1280000"/>
            <a:ext cx="5600000" cy="470000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0000" y="1280000"/>
            <a:ext cx="5600000" cy="60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0000" y="1430000"/>
            <a:ext cx="524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  <a:latin typeface="Calibri"/>
              </a:rPr>
              <a:t>Risks &amp; the 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0000" y="1950000"/>
            <a:ext cx="5240000" cy="3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•  Single-user process today — needs hardening for concurrent underwriters.</a:t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•  Insight cache is in-memory and manual — needs TTL + invalidation hooks.</a:t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•  Ollama capacity is laptop-class — batch flows need a shared inference host.</a:t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Ask:</a:t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•  Pilot — underwriters use Bank Analyser alongside / in place of Setu on a defined CRN cohort.</a:t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•  Infra — Ollama capacity to replace per-call Setu spend with in-house batch generation.</a:t>
            </a:r>
          </a:p>
          <a:p>
            <a:pPr algn="l"/>
            <a:r>
              <a:rPr sz="1100" b="0" i="0">
                <a:solidFill>
                  <a:srgbClr val="556578"/>
                </a:solidFill>
                <a:latin typeface="Calibri"/>
              </a:rPr>
              <a:t>•  Decision — green-light Phase 2 (ReAct loop) once pilot accuracy ≥ Setu baseline.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